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0" y="9144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☁️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285F4"/>
                </a:solidFill>
              </a:defRPr>
            </a:pPr>
            <a:r>
              <a:t>Використання хмарних сервісів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892B0"/>
                </a:solidFill>
              </a:defRPr>
            </a:pPr>
            <a:r>
              <a:t>можливості, переваги та ризики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892B0"/>
                </a:solidFill>
              </a:defRPr>
            </a:pPr>
            <a:r>
              <a:t>👤 Автор: Студент</a:t>
            </a:r>
          </a:p>
          <a:p>
            <a:pPr algn="ctr">
              <a:defRPr sz="1800">
                <a:solidFill>
                  <a:srgbClr val="8892B0"/>
                </a:solidFill>
              </a:defRPr>
            </a:pPr>
            <a:r>
              <a:t>📅 Січень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892B0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85F4"/>
                </a:solidFill>
              </a:defRPr>
            </a:pPr>
            <a:r>
              <a:t>☁️  Що таке хмарні сервіси?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4285F4"/>
                </a:solidFill>
              </a:rPr>
              <a:t>Доступ через інтернет </a:t>
            </a:r>
            <a:r>
              <a:rPr sz="1800">
                <a:solidFill>
                  <a:srgbClr val="FFFFFF"/>
                </a:solidFill>
              </a:rPr>
              <a:t>— працюйте з файлами з будь-якого пристрою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4285F4"/>
                </a:solidFill>
              </a:rPr>
              <a:t>Віддалене зберігання </a:t>
            </a:r>
            <a:r>
              <a:rPr sz="1800">
                <a:solidFill>
                  <a:srgbClr val="FFFFFF"/>
                </a:solidFill>
              </a:rPr>
              <a:t>— дані на серверах, не на вашому комп'ютері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4285F4"/>
                </a:solidFill>
              </a:rPr>
              <a:t>Обчислення за запитом </a:t>
            </a:r>
            <a:r>
              <a:rPr sz="1800">
                <a:solidFill>
                  <a:srgbClr val="FFFFFF"/>
                </a:solidFill>
              </a:rPr>
              <a:t>— потужні сервери виконують складні задачі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73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006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4285F4"/>
                </a:solidFill>
              </a:rPr>
              <a:t>Синхронізація </a:t>
            </a:r>
            <a:r>
              <a:rPr sz="1800">
                <a:solidFill>
                  <a:srgbClr val="FFFFFF"/>
                </a:solidFill>
              </a:rPr>
              <a:t>— автоматичне оновлення на всіх пристроях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892B0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A853"/>
                </a:solidFill>
              </a:defRPr>
            </a:pPr>
            <a:r>
              <a:t>✅  Переваги хмарних сервісів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34A853"/>
                </a:solidFill>
              </a:rPr>
              <a:t>Доступність 24/7 </a:t>
            </a:r>
            <a:r>
              <a:rPr sz="1800">
                <a:solidFill>
                  <a:srgbClr val="FFFFFF"/>
                </a:solidFill>
              </a:rPr>
              <a:t>— працюйте будь-коли та будь-де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4864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231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34A853"/>
                </a:solidFill>
              </a:rPr>
              <a:t>Спільна робота </a:t>
            </a:r>
            <a:r>
              <a:rPr sz="1800">
                <a:solidFill>
                  <a:srgbClr val="FFFFFF"/>
                </a:solidFill>
              </a:rPr>
              <a:t>— редагуйте документи разом у реальному часі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54864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34A853"/>
                </a:solidFill>
              </a:rPr>
              <a:t>Безпека даних </a:t>
            </a:r>
            <a:r>
              <a:rPr sz="1800">
                <a:solidFill>
                  <a:srgbClr val="FFFFFF"/>
                </a:solidFill>
              </a:rPr>
              <a:t>— автоматичне резервне копіювання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54864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34A853"/>
                </a:solidFill>
              </a:rPr>
              <a:t>Масштабованість </a:t>
            </a:r>
            <a:r>
              <a:rPr sz="1800">
                <a:solidFill>
                  <a:srgbClr val="FFFFFF"/>
                </a:solidFill>
              </a:rPr>
              <a:t>— легко збільшити обсяг пам'яті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54864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389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663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34A853"/>
                </a:solidFill>
              </a:rPr>
              <a:t>Економія </a:t>
            </a:r>
            <a:r>
              <a:rPr sz="1800">
                <a:solidFill>
                  <a:srgbClr val="FFFFFF"/>
                </a:solidFill>
              </a:rPr>
              <a:t>— не потрібно купувати сервери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892B0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B59B6"/>
                </a:solidFill>
              </a:defRPr>
            </a:pPr>
            <a:r>
              <a:t>🎓  Хмарні сервіси в освіті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9B59B6"/>
                </a:solidFill>
              </a:rPr>
              <a:t>Google Docs </a:t>
            </a:r>
            <a:r>
              <a:rPr sz="1800">
                <a:solidFill>
                  <a:srgbClr val="FFFFFF"/>
                </a:solidFill>
              </a:rPr>
              <a:t>— спільні документи для групових проєктів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54864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9B59B6"/>
                </a:solidFill>
              </a:rPr>
              <a:t>Google Forms </a:t>
            </a:r>
            <a:r>
              <a:rPr sz="1800">
                <a:solidFill>
                  <a:srgbClr val="FFFFFF"/>
                </a:solidFill>
              </a:rPr>
              <a:t>— онлайн-тестування та опитування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4864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9B59B6"/>
                </a:solidFill>
              </a:rPr>
              <a:t>Google Classroom </a:t>
            </a:r>
            <a:r>
              <a:rPr sz="1800">
                <a:solidFill>
                  <a:srgbClr val="FFFFFF"/>
                </a:solidFill>
              </a:rPr>
              <a:t>— віртуальні класи та завдання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54864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73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006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9B59B6"/>
                </a:solidFill>
              </a:rPr>
              <a:t>Microsoft Teams </a:t>
            </a:r>
            <a:r>
              <a:rPr sz="1800">
                <a:solidFill>
                  <a:srgbClr val="FFFFFF"/>
                </a:solidFill>
              </a:rPr>
              <a:t>— відеоконференції та командна робота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892B0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A4335"/>
                </a:solidFill>
              </a:defRPr>
            </a:pPr>
            <a:r>
              <a:t>⚠️  Ризики та загрози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640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EA4335"/>
                </a:solidFill>
              </a:rPr>
              <a:t>Залежність від інтернету </a:t>
            </a:r>
            <a:r>
              <a:rPr sz="1800">
                <a:solidFill>
                  <a:srgbClr val="FFFFFF"/>
                </a:solidFill>
              </a:rPr>
              <a:t>— без з'єднання немає доступу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54864" cy="640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EA4335"/>
                </a:solidFill>
              </a:rPr>
              <a:t>Конфіденційність </a:t>
            </a:r>
            <a:r>
              <a:rPr sz="1800">
                <a:solidFill>
                  <a:srgbClr val="FFFFFF"/>
                </a:solidFill>
              </a:rPr>
              <a:t>— ризик витоку особистих даних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4864" cy="640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EA4335"/>
                </a:solidFill>
              </a:rPr>
              <a:t>Технічні збої </a:t>
            </a:r>
            <a:r>
              <a:rPr sz="1800">
                <a:solidFill>
                  <a:srgbClr val="FFFFFF"/>
                </a:solidFill>
              </a:rPr>
              <a:t>— можлива втрата даних при аваріях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515600" cy="6400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54864" cy="640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73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006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EA4335"/>
                </a:solidFill>
              </a:rPr>
              <a:t>Залежність від провайдера </a:t>
            </a:r>
            <a:r>
              <a:rPr sz="1800">
                <a:solidFill>
                  <a:srgbClr val="FFFFFF"/>
                </a:solidFill>
              </a:rPr>
              <a:t>— закриття сервісу = втрата доступу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892B0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85F4"/>
                </a:solidFill>
              </a:defRPr>
            </a:pPr>
            <a:r>
              <a:t>📊  Динаміка використання 2010–2025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5646420"/>
            <a:ext cx="731520" cy="114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3263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285F4"/>
                </a:solidFill>
              </a:defRPr>
            </a:pPr>
            <a:r>
              <a:t>45M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2B0"/>
                </a:solidFill>
              </a:defRPr>
            </a:pPr>
            <a:r>
              <a:t>2010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5494020"/>
            <a:ext cx="731520" cy="2667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51739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285F4"/>
                </a:solidFill>
              </a:defRPr>
            </a:pPr>
            <a:r>
              <a:t>105M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5806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2B0"/>
                </a:solidFill>
              </a:defRPr>
            </a:pPr>
            <a:r>
              <a:t>2012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5227320"/>
            <a:ext cx="731520" cy="533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90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285F4"/>
                </a:solidFill>
              </a:defRPr>
            </a:pPr>
            <a:r>
              <a:t>285M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806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2B0"/>
                </a:solidFill>
              </a:defRPr>
            </a:pPr>
            <a:r>
              <a:t>2014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39" y="4846320"/>
            <a:ext cx="731520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4526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285F4"/>
                </a:solidFill>
              </a:defRPr>
            </a:pPr>
            <a:r>
              <a:t>695M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5806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2B0"/>
                </a:solidFill>
              </a:defRPr>
            </a:pPr>
            <a:r>
              <a:t>2016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4389120"/>
            <a:ext cx="731520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4069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285F4"/>
                </a:solidFill>
              </a:defRPr>
            </a:pPr>
            <a:r>
              <a:t>1.4B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5806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2B0"/>
                </a:solidFill>
              </a:defRPr>
            </a:pPr>
            <a:r>
              <a:t>2018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627120"/>
            <a:ext cx="731520" cy="2133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307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3.2B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806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2B0"/>
                </a:solidFill>
              </a:defRPr>
            </a:pPr>
            <a:r>
              <a:t>2020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3093720"/>
            <a:ext cx="731520" cy="2667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39" y="277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5.3B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806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2B0"/>
                </a:solidFill>
              </a:defRPr>
            </a:pPr>
            <a:r>
              <a:t>2022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560320"/>
            <a:ext cx="731520" cy="3200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240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7.1B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806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2B0"/>
                </a:solidFill>
              </a:defRPr>
            </a:pPr>
            <a:r>
              <a:t>2024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2103120"/>
            <a:ext cx="731520" cy="3657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1783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8.2B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5806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2B0"/>
                </a:solidFill>
              </a:defRPr>
            </a:pPr>
            <a:r>
              <a:t>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92B0"/>
                </a:solidFill>
              </a:defRPr>
            </a:pPr>
            <a:r>
              <a:t>📈 Зростання з 45 млн до 8.2 млрд користувачів за 15 років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892B0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85F4"/>
                </a:solidFill>
              </a:defRPr>
            </a:pPr>
            <a:r>
              <a:t>🔗  Дізнайтеся більше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840480"/>
          </a:xfrm>
          <a:prstGeom prst="roundRect">
            <a:avLst/>
          </a:prstGeom>
          <a:solidFill>
            <a:srgbClr val="232337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285F4"/>
                </a:solidFill>
              </a:defRPr>
            </a:pPr>
            <a:r>
              <a:t>Відео-урок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892B0"/>
                </a:solidFill>
              </a:defRPr>
            </a:pPr>
            <a:r>
              <a:t>Що таке хмарні технології?</a:t>
            </a:r>
            <a:br/>
            <a:r>
              <a:t>Простими словами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663440"/>
            <a:ext cx="2560320" cy="4572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0916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youtube.com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474720" cy="3840480"/>
          </a:xfrm>
          <a:prstGeom prst="roundRect">
            <a:avLst/>
          </a:prstGeom>
          <a:solidFill>
            <a:srgbClr val="232337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285F4"/>
                </a:solidFill>
              </a:defRPr>
            </a:pPr>
            <a:r>
              <a:t>Документація 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892B0"/>
                </a:solidFill>
              </a:defRPr>
            </a:pPr>
            <a:r>
              <a:t>Офіційний посібник з</a:t>
            </a:r>
            <a:br/>
            <a:r>
              <a:t>хмарних обчислень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4663440"/>
            <a:ext cx="2560320" cy="4572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470916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aws.amazon.com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474720" cy="3840480"/>
          </a:xfrm>
          <a:prstGeom prst="roundRect">
            <a:avLst/>
          </a:prstGeom>
          <a:solidFill>
            <a:srgbClr val="232337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/>
            </a:pPr>
            <a:r>
              <a:t>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285F4"/>
                </a:solidFill>
              </a:defRPr>
            </a:pPr>
            <a:r>
              <a:t>Курс Coursera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91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892B0"/>
                </a:solidFill>
              </a:defRPr>
            </a:pPr>
            <a:r>
              <a:t>Introduction to</a:t>
            </a:r>
            <a:br/>
            <a:r>
              <a:t>Cloud Computing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663440"/>
            <a:ext cx="2560320" cy="4572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70916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coursera.org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892B0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